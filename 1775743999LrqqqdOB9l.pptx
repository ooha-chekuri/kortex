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60" r:id="rId3"/>
    <p:sldId id="270" r:id="rId4"/>
    <p:sldId id="271" r:id="rId5"/>
    <p:sldId id="272" r:id="rId6"/>
    <p:sldId id="273" r:id="rId7"/>
  </p:sldIdLst>
  <p:sldSz cx="9144000" cy="5143500" type="screen16x9"/>
  <p:notesSz cx="51435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9" roundtripDataSignature="AMtx7mjtITAzRscwDsFzStXegRp5paV3Z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C81187-193C-4C46-B1F0-4D8E0B8DFFAC}">
  <a:tblStyle styleId="{7DC81187-193C-4C46-B1F0-4D8E0B8DFFA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6" d="100"/>
          <a:sy n="86" d="100"/>
        </p:scale>
        <p:origin x="1032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23" Type="http://schemas.openxmlformats.org/officeDocument/2006/relationships/tableStyles" Target="tableStyles.xml"/><Relationship Id="rId19" Type="http://customschemas.google.com/relationships/presentationmetadata" Target="metadata"/><Relationship Id="rId4" Type="http://schemas.openxmlformats.org/officeDocument/2006/relationships/slide" Target="slides/slide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857400" y="685800"/>
            <a:ext cx="34291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" name="Google Shape;10;p1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1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4:notes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:notes"/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2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7F87DB07-8FD9-B811-02E1-3B242D167A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9A3B6AEB-4E48-90AD-D817-44D3854A6C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4:notes">
            <a:extLst>
              <a:ext uri="{FF2B5EF4-FFF2-40B4-BE49-F238E27FC236}">
                <a16:creationId xmlns:a16="http://schemas.microsoft.com/office/drawing/2014/main" id="{32810D43-74F0-4F99-4FD8-41989D8DCD1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:notes">
            <a:extLst>
              <a:ext uri="{FF2B5EF4-FFF2-40B4-BE49-F238E27FC236}">
                <a16:creationId xmlns:a16="http://schemas.microsoft.com/office/drawing/2014/main" id="{55C80F38-F398-C510-D6BD-5F674B69DDC1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801130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6EDD802D-EA08-161B-A9E3-D1DAA684C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C2561607-26C7-E66D-880F-F6F253DEA21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4:notes">
            <a:extLst>
              <a:ext uri="{FF2B5EF4-FFF2-40B4-BE49-F238E27FC236}">
                <a16:creationId xmlns:a16="http://schemas.microsoft.com/office/drawing/2014/main" id="{3133BFDB-D305-2784-A0C1-AC77B5F6137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:notes">
            <a:extLst>
              <a:ext uri="{FF2B5EF4-FFF2-40B4-BE49-F238E27FC236}">
                <a16:creationId xmlns:a16="http://schemas.microsoft.com/office/drawing/2014/main" id="{E81ECF9B-4D81-8D08-1786-8129D43BC0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9991819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1BA0BB28-375E-AA84-24D4-15A05924A8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807115DF-D27B-3D67-AE20-0D684F1C4EA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4:notes">
            <a:extLst>
              <a:ext uri="{FF2B5EF4-FFF2-40B4-BE49-F238E27FC236}">
                <a16:creationId xmlns:a16="http://schemas.microsoft.com/office/drawing/2014/main" id="{2AE28765-EF71-9031-E4B8-634222EC65B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:notes">
            <a:extLst>
              <a:ext uri="{FF2B5EF4-FFF2-40B4-BE49-F238E27FC236}">
                <a16:creationId xmlns:a16="http://schemas.microsoft.com/office/drawing/2014/main" id="{44A68658-F967-B8E5-4C8A-13E56F4B890E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5719822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>
          <a:extLst>
            <a:ext uri="{FF2B5EF4-FFF2-40B4-BE49-F238E27FC236}">
              <a16:creationId xmlns:a16="http://schemas.microsoft.com/office/drawing/2014/main" id="{A85FB200-419F-0F7B-FF4C-DD46B9A10F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4:notes">
            <a:extLst>
              <a:ext uri="{FF2B5EF4-FFF2-40B4-BE49-F238E27FC236}">
                <a16:creationId xmlns:a16="http://schemas.microsoft.com/office/drawing/2014/main" id="{4D383440-29B1-D661-9624-97C3183519C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-1166813" y="0"/>
            <a:ext cx="5334001" cy="30003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80" name="Google Shape;180;p4:notes">
            <a:extLst>
              <a:ext uri="{FF2B5EF4-FFF2-40B4-BE49-F238E27FC236}">
                <a16:creationId xmlns:a16="http://schemas.microsoft.com/office/drawing/2014/main" id="{DAB86469-F99D-6776-5175-10A465A52DB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p4:notes">
            <a:extLst>
              <a:ext uri="{FF2B5EF4-FFF2-40B4-BE49-F238E27FC236}">
                <a16:creationId xmlns:a16="http://schemas.microsoft.com/office/drawing/2014/main" id="{3D940982-0CEC-CA34-D372-8712955F036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691344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EFAULT">
  <p:cSld name="DEFAULT">
    <p:bg>
      <p:bgPr>
        <a:solidFill>
          <a:schemeClr val="lt1"/>
        </a:solidFill>
        <a:effectLst/>
      </p:bgPr>
    </p:bg>
    <p:spTree>
      <p:nvGrpSpPr>
        <p:cNvPr id="1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581212"/>
        </a:solidFill>
        <a:effectLst/>
      </p:bgPr>
    </p:bg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5760720" y="0"/>
            <a:ext cx="338328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Kortex: Agentic Knowledge Copilot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" name="Google Shape;13;p1"/>
          <p:cNvSpPr/>
          <p:nvPr/>
        </p:nvSpPr>
        <p:spPr>
          <a:xfrm>
            <a:off x="365760" y="1234440"/>
            <a:ext cx="5120640" cy="16459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Calibri"/>
              <a:buNone/>
            </a:pPr>
            <a:r>
              <a:rPr lang="sv-SE" sz="3400" b="1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Hackathon Submission
Intelligent Ticket Routing &amp; SOP Ingestion</a:t>
            </a:r>
            <a:endParaRPr sz="3400" b="1" dirty="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p1"/>
          <p:cNvSpPr/>
          <p:nvPr/>
        </p:nvSpPr>
        <p:spPr>
          <a:xfrm>
            <a:off x="6035040" y="2114550"/>
            <a:ext cx="27432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581212"/>
              </a:buClr>
              <a:buSzPts val="4000"/>
              <a:buFont typeface="Arial Rounded"/>
              <a:buNone/>
            </a:pPr>
            <a:endParaRPr sz="4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5" name="Google Shape;15;p1" title="nasscom (1)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237025" y="2204798"/>
            <a:ext cx="2838715" cy="594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/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812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Problem &amp; Objective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/>
          <p:cNvSpPr txBox="1"/>
          <p:nvPr/>
        </p:nvSpPr>
        <p:spPr>
          <a:xfrm>
            <a:off x="156575" y="137003"/>
            <a:ext cx="45720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Problem: Support engineers are overwhelmed by high ticket volumes and fragmented documentation. 
Objective: Build an agentic RAG system that bridges the gap between past resolutions and internal SOPs to provide instant, verified answers.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59CDB4B-B6C8-6114-C577-02B4D16BE36B}"/>
              </a:ext>
            </a:extLst>
          </p:cNvPr>
          <p:cNvSpPr txBox="1"/>
          <p:nvPr/>
        </p:nvSpPr>
        <p:spPr>
          <a:xfrm>
            <a:off x="88776" y="1053629"/>
            <a:ext cx="8762261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 statement should be crisp and focused, represented in one paragraph at most</a:t>
            </a:r>
          </a:p>
          <a:p>
            <a:endParaRPr lang="en-US" dirty="0"/>
          </a:p>
          <a:p>
            <a:r>
              <a:rPr lang="en-US" dirty="0"/>
              <a:t>What is the objective to build a solution for the given problem and who are the stakeholders positively affected with this solution</a:t>
            </a:r>
          </a:p>
          <a:p>
            <a:endParaRPr lang="en-US" dirty="0"/>
          </a:p>
          <a:p>
            <a:r>
              <a:rPr lang="en-US" dirty="0"/>
              <a:t>What is the dire need for such a solution to be built today?</a:t>
            </a:r>
          </a:p>
          <a:p>
            <a:endParaRPr lang="en-US" dirty="0"/>
          </a:p>
          <a:p>
            <a:r>
              <a:rPr lang="en-US" dirty="0"/>
              <a:t>What could be the social impact of building such a solution</a:t>
            </a: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FD60BEC1-7152-2DB0-D40B-8BE46C7DFB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>
            <a:extLst>
              <a:ext uri="{FF2B5EF4-FFF2-40B4-BE49-F238E27FC236}">
                <a16:creationId xmlns:a16="http://schemas.microsoft.com/office/drawing/2014/main" id="{892DD14A-7627-AC14-0B18-8789B5EC0D98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812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Business Impact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>
            <a:extLst>
              <a:ext uri="{FF2B5EF4-FFF2-40B4-BE49-F238E27FC236}">
                <a16:creationId xmlns:a16="http://schemas.microsoft.com/office/drawing/2014/main" id="{FE29A7F8-C065-6E37-33E0-CBEDADB6C6DB}"/>
              </a:ext>
            </a:extLst>
          </p:cNvPr>
          <p:cNvSpPr txBox="1"/>
          <p:nvPr/>
        </p:nvSpPr>
        <p:spPr>
          <a:xfrm>
            <a:off x="156575" y="137003"/>
            <a:ext cx="4572000" cy="13233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- 40% reduction in Ticket Resolution Time (MTTR).
- Improved consistency in incident response via SOP grounding.
- Scalable knowledge capture from resolution history.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27FD4DB-96A3-ABCD-1C91-DB112A0AF8EC}"/>
              </a:ext>
            </a:extLst>
          </p:cNvPr>
          <p:cNvSpPr txBox="1"/>
          <p:nvPr/>
        </p:nvSpPr>
        <p:spPr>
          <a:xfrm>
            <a:off x="156575" y="1171853"/>
            <a:ext cx="810531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Brief data/statistics with reference links to support the intensity, enormity and of the problem and hence market size opportunity </a:t>
            </a:r>
          </a:p>
          <a:p>
            <a:endParaRPr lang="en-US" dirty="0"/>
          </a:p>
          <a:p>
            <a:r>
              <a:rPr lang="en-US" dirty="0"/>
              <a:t>Impact assessment  : What impact can it create</a:t>
            </a:r>
          </a:p>
          <a:p>
            <a:endParaRPr lang="en-US" dirty="0"/>
          </a:p>
          <a:p>
            <a:r>
              <a:rPr lang="en-US" dirty="0"/>
              <a:t>What is the level of investment needed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59048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B48B1440-841E-297D-BC59-BD3AD6965A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>
            <a:extLst>
              <a:ext uri="{FF2B5EF4-FFF2-40B4-BE49-F238E27FC236}">
                <a16:creationId xmlns:a16="http://schemas.microsoft.com/office/drawing/2014/main" id="{9E6DA717-D326-281E-5F99-ED4A1880BF9F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812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Existing Solutions &amp; Gaps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>
            <a:extLst>
              <a:ext uri="{FF2B5EF4-FFF2-40B4-BE49-F238E27FC236}">
                <a16:creationId xmlns:a16="http://schemas.microsoft.com/office/drawing/2014/main" id="{AA607856-6943-A437-3324-EC1CB277D312}"/>
              </a:ext>
            </a:extLst>
          </p:cNvPr>
          <p:cNvSpPr txBox="1"/>
          <p:nvPr/>
        </p:nvSpPr>
        <p:spPr>
          <a:xfrm>
            <a:off x="156575" y="137003"/>
            <a:ext cx="45720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Standard Search: Lacks reasoning and context awareness.
- Traditional Chatbots: Hallucinate or fail on technical specifics.
- Kortex Gap: Multi-agent orchestration with cross-verification (Validator Agent).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6519D9C-B764-D77D-62CC-47975B1D7840}"/>
              </a:ext>
            </a:extLst>
          </p:cNvPr>
          <p:cNvSpPr txBox="1"/>
          <p:nvPr/>
        </p:nvSpPr>
        <p:spPr>
          <a:xfrm>
            <a:off x="235258" y="1189608"/>
            <a:ext cx="8194089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How is the problem being solved today and what are the shortcomings in current approach</a:t>
            </a:r>
          </a:p>
          <a:p>
            <a:endParaRPr lang="en-US" dirty="0"/>
          </a:p>
          <a:p>
            <a:r>
              <a:rPr lang="en-US" dirty="0"/>
              <a:t>What are other existing competing solutions/products and where do they lack in functionality </a:t>
            </a:r>
          </a:p>
          <a:p>
            <a:endParaRPr lang="en-US" dirty="0"/>
          </a:p>
          <a:p>
            <a:r>
              <a:rPr lang="en-US" dirty="0"/>
              <a:t>What is the  impact that you can imagine with your solution</a:t>
            </a:r>
          </a:p>
          <a:p>
            <a:endParaRPr lang="en-US" dirty="0"/>
          </a:p>
          <a:p>
            <a:r>
              <a:rPr lang="en-US" dirty="0"/>
              <a:t>What are critical open gaps in existing solutions that you plan to address in your approach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04397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F40818C9-D01D-38DE-CB69-057FCDD261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>
            <a:extLst>
              <a:ext uri="{FF2B5EF4-FFF2-40B4-BE49-F238E27FC236}">
                <a16:creationId xmlns:a16="http://schemas.microsoft.com/office/drawing/2014/main" id="{ABD07709-3453-4084-3625-8292D50AE4DC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812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Solution Approach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>
            <a:extLst>
              <a:ext uri="{FF2B5EF4-FFF2-40B4-BE49-F238E27FC236}">
                <a16:creationId xmlns:a16="http://schemas.microsoft.com/office/drawing/2014/main" id="{ECD1CC2A-DCC0-AAEA-BA09-30278A07E04D}"/>
              </a:ext>
            </a:extLst>
          </p:cNvPr>
          <p:cNvSpPr txBox="1"/>
          <p:nvPr/>
        </p:nvSpPr>
        <p:spPr>
          <a:xfrm>
            <a:off x="156575" y="137003"/>
            <a:ext cx="4572000" cy="15696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Multi-Agent Orchestration (Triage, Retrieval, Reranker, Synthesis, Validator).
- Hybrid Knowledge Retrieval: FAISS for vector search on SOPs + Ticket Metadata Indexing.
- Self-Correction: Validator agent triggers retries on low-confidence answers.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0D0150F-C4D5-7A43-ECA1-1B03DECF6CD2}"/>
              </a:ext>
            </a:extLst>
          </p:cNvPr>
          <p:cNvSpPr txBox="1"/>
          <p:nvPr/>
        </p:nvSpPr>
        <p:spPr>
          <a:xfrm>
            <a:off x="156575" y="1162974"/>
            <a:ext cx="8371643" cy="31085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Describe briefly what is the solution approach and high level design for proposed solution. Attach references and images as appropriate</a:t>
            </a:r>
          </a:p>
          <a:p>
            <a:endParaRPr lang="en-US" dirty="0"/>
          </a:p>
          <a:p>
            <a:r>
              <a:rPr lang="en-US" dirty="0"/>
              <a:t>What is the USP ( Unique Selling Proposition ) of your solution,  compared with what is already existing in the market</a:t>
            </a:r>
          </a:p>
          <a:p>
            <a:endParaRPr lang="en-US" dirty="0"/>
          </a:p>
          <a:p>
            <a:r>
              <a:rPr lang="en-US" dirty="0"/>
              <a:t>What are dependencies and assumptions in your solution approach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68433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2">
          <a:extLst>
            <a:ext uri="{FF2B5EF4-FFF2-40B4-BE49-F238E27FC236}">
              <a16:creationId xmlns:a16="http://schemas.microsoft.com/office/drawing/2014/main" id="{751F035B-9B84-C011-0C0D-9E17F856BA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4">
            <a:extLst>
              <a:ext uri="{FF2B5EF4-FFF2-40B4-BE49-F238E27FC236}">
                <a16:creationId xmlns:a16="http://schemas.microsoft.com/office/drawing/2014/main" id="{B68695ED-4D68-999C-5153-390C3A93E54A}"/>
              </a:ext>
            </a:extLst>
          </p:cNvPr>
          <p:cNvSpPr/>
          <p:nvPr/>
        </p:nvSpPr>
        <p:spPr>
          <a:xfrm>
            <a:off x="0" y="0"/>
            <a:ext cx="9144000" cy="749808"/>
          </a:xfrm>
          <a:prstGeom prst="rect">
            <a:avLst/>
          </a:prstGeom>
          <a:solidFill>
            <a:srgbClr val="581212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Technical Details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4">
            <a:extLst>
              <a:ext uri="{FF2B5EF4-FFF2-40B4-BE49-F238E27FC236}">
                <a16:creationId xmlns:a16="http://schemas.microsoft.com/office/drawing/2014/main" id="{FA3E3ED5-C38D-7161-0906-E0B2CBD740A7}"/>
              </a:ext>
            </a:extLst>
          </p:cNvPr>
          <p:cNvSpPr txBox="1"/>
          <p:nvPr/>
        </p:nvSpPr>
        <p:spPr>
          <a:xfrm>
            <a:off x="156575" y="137003"/>
            <a:ext cx="4572000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u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- Backend: FastAPI, FAISS, Tiny-Agents framework.
- Frontend: React + Vite with custom Pixel-Art UI.
- Models: Gemini 2.0 Flash / Llama 3.2.
- XAI: Native explanation layer for each agent stage.</a:t>
            </a:r>
            <a:endParaRPr sz="1800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8B97256-5CF4-1C8C-1D54-793D4CB7F4B3}"/>
              </a:ext>
            </a:extLst>
          </p:cNvPr>
          <p:cNvSpPr txBox="1"/>
          <p:nvPr/>
        </p:nvSpPr>
        <p:spPr>
          <a:xfrm>
            <a:off x="156575" y="1125200"/>
            <a:ext cx="8371643" cy="28931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Describe briefly about design considerations with respect to the following</a:t>
            </a:r>
          </a:p>
          <a:p>
            <a:r>
              <a:rPr lang="en-US" dirty="0"/>
              <a:t>	- Technical feasibility</a:t>
            </a:r>
          </a:p>
          <a:p>
            <a:r>
              <a:rPr lang="en-US" dirty="0"/>
              <a:t>	- Business viability</a:t>
            </a:r>
          </a:p>
          <a:p>
            <a:r>
              <a:rPr lang="en-US" dirty="0"/>
              <a:t>	- Solution security considerations</a:t>
            </a:r>
          </a:p>
          <a:p>
            <a:r>
              <a:rPr lang="en-US" dirty="0"/>
              <a:t>	- Solution scalability considerations</a:t>
            </a:r>
          </a:p>
          <a:p>
            <a:r>
              <a:rPr lang="en-US" dirty="0"/>
              <a:t>	- Technical complexity 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135293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466</Words>
  <Application>Microsoft Office PowerPoint</Application>
  <PresentationFormat>On-screen Show (16:9)</PresentationFormat>
  <Paragraphs>61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Arial Rounded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NASSCOM</dc:creator>
  <cp:lastModifiedBy>Charan Sai Ponnada</cp:lastModifiedBy>
  <cp:revision>2</cp:revision>
  <dcterms:created xsi:type="dcterms:W3CDTF">2026-04-01T06:21:39Z</dcterms:created>
  <dcterms:modified xsi:type="dcterms:W3CDTF">2026-04-12T16:42:35Z</dcterms:modified>
</cp:coreProperties>
</file>